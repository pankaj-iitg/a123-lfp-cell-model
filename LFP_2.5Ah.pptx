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1" r:id="rId5"/>
    <p:sldId id="260" r:id="rId6"/>
    <p:sldId id="262" r:id="rId7"/>
    <p:sldId id="264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C5C23-74B5-453B-B981-B89F1F129A7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11618-56EE-4E86-B86E-7F7092341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515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11618-56EE-4E86-B86E-7F709234117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08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4A0F-38C3-E56B-95D1-2259E6F2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BD09A-0900-EF57-C535-383E441F8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3F17B-D5C2-2FAB-19FB-87D05BE04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2B48B-6258-1D15-228B-E97B23908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11618-56EE-4E86-B86E-7F709234117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06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2F36-0CCC-F67F-2F2E-0A905DA0B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1915D-7183-705C-960C-33394E6A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DAFE-D9A2-BE22-EC7B-FA8D3479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26EC-2C5F-4091-9B18-00EA9D4AC81A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90A7F-FD67-A8FB-B058-A3EBF840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A5864-E985-D0E9-C171-3D9368A4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69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F8AD-04D5-66E8-89FB-981AACA5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7F117-D334-C8BF-C83D-67338D8CC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3BD5-44CC-CFAE-5D88-1E3A7194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ED5C4-7DDC-49E8-8232-4AF6A6E93DB5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C34BD-D00F-E5A3-3B00-7C27FEB2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8DC3-CAD3-65A6-BE90-F26912A3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90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CD1E-674E-7A2D-C177-B1D79B48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7B821-66A5-AB1A-E8B6-38CF4BFA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09FB-F0FE-49E9-7940-62F6171E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2DB5-03A4-4A86-A504-98939D010A84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55AB-2F8F-577B-8FE7-273C135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A65A-6204-9719-D4A8-5F2BB55F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092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9E8B-280C-AA05-6E5A-F9BF00CD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6A7A-5203-F83A-F78B-99BEE7770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6DB53-883C-551F-BE05-80B6F63EE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D4F48-AE96-D4C1-3570-29BD23FF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EB9A2-EDB6-45E5-B92D-B516B48A73C8}" type="datetime1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E0A0D-2643-15DC-9B02-A39386C9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108B-3F70-BBFE-2629-E9984712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3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FDC4-8C4E-1BA7-D3A8-DC2E314C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9D1FA-77EA-B7BB-D20A-3E59D18D5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DCE77-9AAC-2B42-5ED6-65D62ECF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286E5-07AB-2A5C-9FEF-0120A8191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C0949-0E59-9A8A-DAE6-01B7C0C01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82C66-B9BE-6C48-9098-EBFD6487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87137-19CC-473D-B7DB-256B3486EBD0}" type="datetime1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C96AE-AA99-43ED-94C4-A3D2D648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DC8A8-EBF9-8F59-928A-704161B3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29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151D-0C65-866D-3665-1CF072D3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882A7-D5FD-09EF-147B-21EF0835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8C80-7524-4A88-A6D3-02B5D8025A9B}" type="datetime1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3B14A-5C58-DF01-222B-64FCB343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43C4-ADDB-F03A-636A-34E1CBC1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97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9C1D5-B7BE-EAEA-C173-F69A5D43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774DE-8D7F-40E9-A8C8-FE67A2C4709D}" type="datetime1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94B36-50CE-CCD7-A054-34EAB00A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E390-59B2-DED5-98EC-E81AB389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58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06C6-D1C0-0DFC-F881-E24F58A8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93D0-2A64-312C-6C28-CF6CDDF35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A0E07-61D5-B223-1853-EDA8C00B4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2570-3055-4291-8A5F-150F92F8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6ECEA-1347-4D62-AEA8-6DADDF2EBF3A}" type="datetime1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44C1B-D690-7FAD-7B6C-6613F57B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9EF42-2893-9EC9-875B-A1EF7EEC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8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6637-BE48-FD73-C7F7-0464FC14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DACD0-FB2E-A2F1-1ABB-9AD11CC47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EF577-2D45-0835-8A39-9482C4944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712A2-D1C8-3505-DA6E-FE91231C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9746-5C38-470A-A7BE-BEF6F640DFBA}" type="datetime1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1148A-4C3C-02DC-BD28-B31CD5BC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FA5F3-62F5-D3FB-0657-BD6B7D1E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57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5EE4-46D0-DF9D-794F-B7A35677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0E2C9-85D9-0B80-CEB1-34ABD39D8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9AF65-737D-66AD-A5CD-4CD68219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368-D9DD-4627-AC0A-A7A1010897D4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2EEF0-C63C-FA6F-FE6E-A26A3930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63D0-8A27-B373-57C2-E34F3CBD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6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B1893-E629-AFE7-1A9D-5A5CCEA1B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5B0D7-D5C0-9A02-C0E3-CA4D8EC2C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BC20-EB79-0615-B439-420E0646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CA1C-D25A-4BFB-BBAE-AFD3CE84B909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7658-C67D-25BD-F297-A6626B5F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8A608-2442-BC21-108B-C3C9AE30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27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79FE1-FF57-0976-BA5F-2B786EEA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D68D7-387F-F581-DBF6-308D2CF98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FC8A6-D6E9-5D1C-9ABB-DCA3E3F2C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21012-FDA4-49D9-98FE-71A94CB3D1BD}" type="datetime1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ED28-DB4A-29E4-B48D-68AD74CB9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7F7F-1F03-214E-BFE5-AC446AFD2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997D4-D799-4192-BF76-CE64AFD1A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6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DC78-94B9-66E7-BA31-50B8A3459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b="1" dirty="0">
                <a:solidFill>
                  <a:srgbClr val="C00000"/>
                </a:solidFill>
              </a:rPr>
              <a:t>PyBaMM SPM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Beginning of Life Model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1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13E8-6212-3FD0-3E09-40D0225F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51" y="0"/>
            <a:ext cx="10515600" cy="90493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C00000"/>
                </a:solidFill>
              </a:rPr>
              <a:t>Dataset: 95K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40D284-7EF9-8381-FB16-F3F70EB2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1" y="1071162"/>
            <a:ext cx="5910749" cy="3609260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E6329F-74CD-2C3A-B176-EC78ED71A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995" y="1071162"/>
            <a:ext cx="5921294" cy="3609260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CBA9EA-6908-A4F7-2C5C-5B26A63C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2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016B-546D-E6CA-33C0-E06760D3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51" y="0"/>
            <a:ext cx="10515600" cy="90493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C00000"/>
                </a:solidFill>
              </a:rPr>
              <a:t>SPM Model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6B35D-8B3B-7E4D-4BB4-A6CA2A68AD8A}"/>
              </a:ext>
            </a:extLst>
          </p:cNvPr>
          <p:cNvSpPr txBox="1"/>
          <p:nvPr/>
        </p:nvSpPr>
        <p:spPr>
          <a:xfrm>
            <a:off x="512064" y="1161288"/>
            <a:ext cx="280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Parameter set: Prada 2013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EE4DC-58FE-9237-7DA6-64E297DAADDA}"/>
              </a:ext>
            </a:extLst>
          </p:cNvPr>
          <p:cNvSpPr txBox="1"/>
          <p:nvPr/>
        </p:nvSpPr>
        <p:spPr>
          <a:xfrm>
            <a:off x="4828032" y="786384"/>
            <a:ext cx="7304352" cy="566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params.update</a:t>
            </a: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{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"Positive electrode </a:t>
            </a:r>
            <a:r>
              <a:rPr lang="en-IN" sz="1400" i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delithiation</a:t>
            </a: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OCP [V]": pybamm.input.parameters.lithium_ion.Prada2013.LFP_ocp_Afshar2017_delithiation,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"Positive electrode lithiation OCP [V]": pybamm.input.parameters.lithium_ion.Prada2013.LFP_ocp_Afshar2017_lithiation,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"Negative electrode lithiation OCP [V]": pybamm.input.parameters.lithium_ion.Prada2013.graphite_LGM50_ocp_Chen2020_lithiation,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"Negative electrode </a:t>
            </a:r>
            <a:r>
              <a:rPr lang="en-IN" sz="1400" i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delithiation</a:t>
            </a: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OCP [V]":pybamm.input.parameters.lithium_ion.Prada2013.graphite_LGM50_ocp_Chen2020_delithiation,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"Negative electrode thickness [m]": 3.4e-05*1.22,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"Initial concentration in negative electrode [mol.m-3]": (0.81 * 30555*0.9),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"Maximum concentration in negative electrode [mol.m-3]": 30555*1.1,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"Negative particle diffusivity [m2.s-1]": 3e-13,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}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i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59491-2A1C-FBB3-177D-9F6BCC3A3D56}"/>
              </a:ext>
            </a:extLst>
          </p:cNvPr>
          <p:cNvSpPr txBox="1"/>
          <p:nvPr/>
        </p:nvSpPr>
        <p:spPr>
          <a:xfrm>
            <a:off x="301752" y="1843763"/>
            <a:ext cx="4279391" cy="152990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IN" sz="1400" b="0" dirty="0">
                <a:solidFill>
                  <a:srgbClr val="F4706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F69D50"/>
                </a:solidFill>
                <a:effectLst/>
                <a:latin typeface="Consolas" panose="020B0609020204030204" pitchFamily="49" charset="0"/>
              </a:rPr>
              <a:t>pybamm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F69D50"/>
                </a:solidFill>
                <a:effectLst/>
                <a:latin typeface="Consolas" panose="020B0609020204030204" pitchFamily="49" charset="0"/>
              </a:rPr>
              <a:t>lithium_ion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F69D50"/>
                </a:solidFill>
                <a:effectLst/>
                <a:latin typeface="Consolas" panose="020B0609020204030204" pitchFamily="49" charset="0"/>
              </a:rPr>
              <a:t>SPM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96D0FF"/>
                </a:solidFill>
                <a:effectLst/>
                <a:latin typeface="Consolas" panose="020B0609020204030204" pitchFamily="49" charset="0"/>
              </a:rPr>
              <a:t>"open-circuit potential"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IN" sz="1400" b="0" dirty="0">
                <a:solidFill>
                  <a:srgbClr val="96D0FF"/>
                </a:solidFill>
                <a:effectLst/>
                <a:latin typeface="Consolas" panose="020B0609020204030204" pitchFamily="49" charset="0"/>
              </a:rPr>
              <a:t>"current sigmoid"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6D0FF"/>
                </a:solidFill>
                <a:effectLst/>
                <a:latin typeface="Consolas" panose="020B0609020204030204" pitchFamily="49" charset="0"/>
              </a:rPr>
              <a:t>"current sigmoid"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params </a:t>
            </a:r>
            <a:r>
              <a:rPr lang="en-IN" sz="1400" b="0" dirty="0">
                <a:solidFill>
                  <a:srgbClr val="F4706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F69D50"/>
                </a:solidFill>
                <a:effectLst/>
                <a:latin typeface="Consolas" panose="020B0609020204030204" pitchFamily="49" charset="0"/>
              </a:rPr>
              <a:t>pybamm</a:t>
            </a:r>
            <a:r>
              <a:rPr lang="en-IN" sz="1400" b="0" dirty="0" err="1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F69D50"/>
                </a:solidFill>
                <a:effectLst/>
                <a:latin typeface="Consolas" panose="020B0609020204030204" pitchFamily="49" charset="0"/>
              </a:rPr>
              <a:t>ParameterValues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6D0FF"/>
                </a:solidFill>
                <a:effectLst/>
                <a:latin typeface="Consolas" panose="020B0609020204030204" pitchFamily="49" charset="0"/>
              </a:rPr>
              <a:t>"Prada2013"</a:t>
            </a:r>
            <a:r>
              <a:rPr lang="en-IN" sz="1400" b="0" dirty="0">
                <a:solidFill>
                  <a:srgbClr val="ADBAC7"/>
                </a:solidFill>
                <a:effectLst/>
                <a:latin typeface="Consolas" panose="020B0609020204030204" pitchFamily="49" charset="0"/>
              </a:rPr>
              <a:t>)    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22550E-E73C-8993-00C8-6F2BD90C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52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E268-E0E2-5795-2E18-64A68CE6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762E-507F-AC4D-3AFC-30450C0B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51" y="0"/>
            <a:ext cx="10515600" cy="90493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C00000"/>
                </a:solidFill>
              </a:rPr>
              <a:t>SPM Model development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7ABEB4-3EED-EFE3-6936-7644DA7228B0}"/>
              </a:ext>
            </a:extLst>
          </p:cNvPr>
          <p:cNvGrpSpPr/>
          <p:nvPr/>
        </p:nvGrpSpPr>
        <p:grpSpPr>
          <a:xfrm>
            <a:off x="125658" y="4203184"/>
            <a:ext cx="11940684" cy="2595582"/>
            <a:chOff x="125658" y="4203184"/>
            <a:chExt cx="11940684" cy="25955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9A3C95-CBC2-84EF-7EA4-AB3383D05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658" y="4203184"/>
              <a:ext cx="5905945" cy="2595582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A66DE4-22EB-BFA9-EDAB-D0CFAF37B74D}"/>
                </a:ext>
              </a:extLst>
            </p:cNvPr>
            <p:cNvSpPr txBox="1"/>
            <p:nvPr/>
          </p:nvSpPr>
          <p:spPr>
            <a:xfrm>
              <a:off x="6159619" y="4203184"/>
              <a:ext cx="5906723" cy="259558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IN" sz="1200" b="0" dirty="0" err="1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params.</a:t>
              </a:r>
              <a:r>
                <a:rPr lang="en-IN" sz="1200" b="0" dirty="0" err="1">
                  <a:solidFill>
                    <a:srgbClr val="DCBDFB"/>
                  </a:solidFill>
                  <a:effectLst/>
                  <a:latin typeface="Consolas" panose="020B0609020204030204" pitchFamily="49" charset="0"/>
                </a:rPr>
                <a:t>update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({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"Negative electrode lithiation OCP [V]"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pybamm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parameters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lithium_ion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Prada2013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DCBDFB"/>
                  </a:solidFill>
                  <a:effectLst/>
                  <a:latin typeface="Consolas" panose="020B0609020204030204" pitchFamily="49" charset="0"/>
                </a:rPr>
                <a:t>graphite_LGM50_ocp_Chen2020_lithiation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"Negative electrode </a:t>
              </a:r>
              <a:r>
                <a:rPr lang="en-IN" sz="1200" b="0" dirty="0" err="1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delithiation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OCP [V]"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pybamm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parameters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lithium_ion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Prada2013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DCBDFB"/>
                  </a:solidFill>
                  <a:effectLst/>
                  <a:latin typeface="Consolas" panose="020B0609020204030204" pitchFamily="49" charset="0"/>
                </a:rPr>
                <a:t>graphite_LGM50_ocp_Chen2020_delithiation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"Positive electrode </a:t>
              </a:r>
              <a:r>
                <a:rPr lang="en-IN" sz="1200" b="0" dirty="0" err="1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delithiation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OCP [V]"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pybamm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parameters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lithium_ion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Prada2013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DCBDFB"/>
                  </a:solidFill>
                  <a:effectLst/>
                  <a:latin typeface="Consolas" panose="020B0609020204030204" pitchFamily="49" charset="0"/>
                </a:rPr>
                <a:t>LFP_ocp_Afshar2017_delithiation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 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IN" sz="12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"Positive electrode lithiation OCP [V]"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pybamm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parameters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lithium_ion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Prada2013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sz="1200" b="0" dirty="0">
                  <a:solidFill>
                    <a:srgbClr val="DCBDFB"/>
                  </a:solidFill>
                  <a:effectLst/>
                  <a:latin typeface="Consolas" panose="020B0609020204030204" pitchFamily="49" charset="0"/>
                </a:rPr>
                <a:t>LFP_ocp_Afshar2017_lithiation</a:t>
              </a: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 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N" sz="12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})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232EC3-0C48-CA4D-0832-BC45128C0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9" y="768096"/>
            <a:ext cx="5906724" cy="3364992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69084-C83F-526A-F703-E2A153004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19" y="768096"/>
            <a:ext cx="5906723" cy="3364992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EC6B67C-5B42-0564-B60F-062FDBCD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0A2130-103A-09FE-A7CB-9E3315C8EA71}"/>
              </a:ext>
            </a:extLst>
          </p:cNvPr>
          <p:cNvSpPr txBox="1">
            <a:spLocks/>
          </p:cNvSpPr>
          <p:nvPr/>
        </p:nvSpPr>
        <p:spPr>
          <a:xfrm>
            <a:off x="185251" y="0"/>
            <a:ext cx="10515600" cy="90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rgbClr val="C00000"/>
                </a:solidFill>
              </a:rPr>
              <a:t>Parameter sensitivity analysis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8B36B-61A1-0296-CC6D-1A984E23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5</a:t>
            </a:fld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83BCF8-9392-0BD0-68C1-C3CB8072DED6}"/>
              </a:ext>
            </a:extLst>
          </p:cNvPr>
          <p:cNvGrpSpPr/>
          <p:nvPr/>
        </p:nvGrpSpPr>
        <p:grpSpPr>
          <a:xfrm>
            <a:off x="1591664" y="752174"/>
            <a:ext cx="8960513" cy="5914437"/>
            <a:chOff x="1591664" y="779606"/>
            <a:chExt cx="8960513" cy="59144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83A1B5-4C68-83A1-31B7-DC50AFDAC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664" y="782928"/>
              <a:ext cx="4434232" cy="2914068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65923D1-8345-F043-A3EF-318B46C60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7946" y="779606"/>
              <a:ext cx="4434231" cy="2914068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70A634-6E51-F00E-3F68-56B441895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1664" y="3779975"/>
              <a:ext cx="4434231" cy="2914068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E9AF8FD-F59B-C4F1-3421-3D877177D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7944" y="3779975"/>
              <a:ext cx="4434233" cy="2914068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51110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A08676-EEB0-09E8-6048-7686D0F33E91}"/>
              </a:ext>
            </a:extLst>
          </p:cNvPr>
          <p:cNvSpPr txBox="1">
            <a:spLocks/>
          </p:cNvSpPr>
          <p:nvPr/>
        </p:nvSpPr>
        <p:spPr>
          <a:xfrm>
            <a:off x="185251" y="0"/>
            <a:ext cx="10515600" cy="90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Cell performance at various C-rates </a:t>
            </a:r>
            <a:endParaRPr lang="en-IN" sz="4000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3885B-FB85-8C74-F32E-6B4B19DF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" y="1956816"/>
            <a:ext cx="4026514" cy="2990088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B4211E-9346-6F44-6A1D-43DEC2FD9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462" y="838065"/>
            <a:ext cx="8071106" cy="5364750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E7FB8-98D8-C159-13D2-35598015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1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209A3-F844-4E9D-E5BE-622F1F1B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7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5C4048-0249-00CB-C8BA-4418DCD8A555}"/>
              </a:ext>
            </a:extLst>
          </p:cNvPr>
          <p:cNvSpPr txBox="1">
            <a:spLocks/>
          </p:cNvSpPr>
          <p:nvPr/>
        </p:nvSpPr>
        <p:spPr>
          <a:xfrm>
            <a:off x="185251" y="0"/>
            <a:ext cx="10515600" cy="90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Model Validation: HPPC_951.csv </a:t>
            </a:r>
            <a:endParaRPr lang="en-IN" sz="4000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AC5A7F-2EF0-E866-67A9-001E77E8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963" y="3904488"/>
            <a:ext cx="6242981" cy="2451862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93B330-E84C-0D2B-8987-827A4FC1B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964" y="941516"/>
            <a:ext cx="6242980" cy="2822883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D1A2C0-0B95-3E5B-650D-0A737F70B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938587"/>
            <a:ext cx="5763768" cy="2825812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1BDE7E1-ECB7-9E41-47B0-923568B020A3}"/>
              </a:ext>
            </a:extLst>
          </p:cNvPr>
          <p:cNvGrpSpPr/>
          <p:nvPr/>
        </p:nvGrpSpPr>
        <p:grpSpPr>
          <a:xfrm>
            <a:off x="542544" y="3819320"/>
            <a:ext cx="4742688" cy="2899579"/>
            <a:chOff x="542544" y="3819320"/>
            <a:chExt cx="4742688" cy="289957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13D0548-FCF9-D234-A057-4C2B90606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610" t="1736" b="48248"/>
            <a:stretch>
              <a:fillRect/>
            </a:stretch>
          </p:blipFill>
          <p:spPr>
            <a:xfrm>
              <a:off x="542544" y="5022665"/>
              <a:ext cx="4742688" cy="1696234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5A1DB8-9BE9-AB17-F456-BF06E6D9B205}"/>
                </a:ext>
              </a:extLst>
            </p:cNvPr>
            <p:cNvSpPr txBox="1"/>
            <p:nvPr/>
          </p:nvSpPr>
          <p:spPr>
            <a:xfrm>
              <a:off x="542544" y="3819320"/>
              <a:ext cx="4742688" cy="115762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exp </a:t>
              </a:r>
              <a:r>
                <a:rPr lang="en-US" sz="1000" b="0" dirty="0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 err="1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pybamm</a:t>
              </a:r>
              <a:r>
                <a:rPr lang="en-US" sz="1000" b="0" dirty="0" err="1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000" b="0" dirty="0" err="1">
                  <a:solidFill>
                    <a:srgbClr val="F69D50"/>
                  </a:solidFill>
                  <a:effectLst/>
                  <a:latin typeface="Consolas" panose="020B0609020204030204" pitchFamily="49" charset="0"/>
                </a:rPr>
                <a:t>Experiment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([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    (</a:t>
              </a:r>
              <a:r>
                <a:rPr lang="en-US" sz="1000" b="0" dirty="0" err="1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f</a:t>
              </a:r>
              <a:r>
                <a:rPr lang="en-US" sz="1000" b="0" dirty="0" err="1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"Discharge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at </a:t>
              </a:r>
              <a:r>
                <a:rPr lang="en-US" sz="1000" b="0" dirty="0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{</a:t>
              </a:r>
              <a:r>
                <a:rPr lang="en-US" sz="1000" b="0" dirty="0">
                  <a:solidFill>
                    <a:srgbClr val="6CB6FF"/>
                  </a:solidFill>
                  <a:effectLst/>
                  <a:latin typeface="Consolas" panose="020B0609020204030204" pitchFamily="49" charset="0"/>
                </a:rPr>
                <a:t>C</a:t>
              </a:r>
              <a:r>
                <a:rPr lang="en-US" sz="1000" b="0" dirty="0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for 10 hours or until 2.5V (1 second period)"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"Rest for 30 minutes (60 seconds period)"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 err="1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f</a:t>
              </a:r>
              <a:r>
                <a:rPr lang="en-US" sz="1000" b="0" dirty="0" err="1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"Charge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at </a:t>
              </a:r>
              <a:r>
                <a:rPr lang="en-US" sz="1000" b="0" dirty="0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{</a:t>
              </a:r>
              <a:r>
                <a:rPr lang="en-US" sz="1000" b="0" dirty="0">
                  <a:solidFill>
                    <a:srgbClr val="6CB6FF"/>
                  </a:solidFill>
                  <a:effectLst/>
                  <a:latin typeface="Consolas" panose="020B0609020204030204" pitchFamily="49" charset="0"/>
                </a:rPr>
                <a:t>C</a:t>
              </a:r>
              <a:r>
                <a:rPr lang="en-US" sz="1000" b="0" dirty="0">
                  <a:solidFill>
                    <a:srgbClr val="F47067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 until 3.5V (1 second period)"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96D0FF"/>
                  </a:solidFill>
                  <a:effectLst/>
                  <a:latin typeface="Consolas" panose="020B0609020204030204" pitchFamily="49" charset="0"/>
                </a:rPr>
                <a:t>"Hold at 3.5V until 0.01A (1 second period)"</a:t>
              </a:r>
              <a:r>
                <a:rPr lang="en-US" sz="1000" b="0" dirty="0">
                  <a:solidFill>
                    <a:srgbClr val="ADBAC7"/>
                  </a:solidFill>
                  <a:effectLst/>
                  <a:latin typeface="Consolas" panose="020B0609020204030204" pitchFamily="49" charset="0"/>
                </a:rPr>
                <a:t>,)])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0A6B-C6F8-82CD-9DA9-0E5BCA33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2C4227-6E07-8B05-BFBC-D4EDE1F7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792782"/>
            <a:ext cx="7886103" cy="2560841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1F6A2A-606F-7A6B-C370-C297DD295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" y="3486089"/>
            <a:ext cx="7886103" cy="3096581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2015992-A94A-A1AA-3F89-74707B7C0C92}"/>
              </a:ext>
            </a:extLst>
          </p:cNvPr>
          <p:cNvSpPr txBox="1">
            <a:spLocks/>
          </p:cNvSpPr>
          <p:nvPr/>
        </p:nvSpPr>
        <p:spPr>
          <a:xfrm>
            <a:off x="185251" y="0"/>
            <a:ext cx="10515600" cy="90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HPPC Protocol Implementation in PyBaMM </a:t>
            </a:r>
            <a:endParaRPr lang="en-IN" sz="4000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B7C62D-E3AC-FBAA-4E02-F4CF55EA6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783638"/>
            <a:ext cx="4117848" cy="13286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EE2FDF-C261-CC38-1A64-41D78ECF270D}"/>
              </a:ext>
            </a:extLst>
          </p:cNvPr>
          <p:cNvSpPr txBox="1"/>
          <p:nvPr/>
        </p:nvSpPr>
        <p:spPr>
          <a:xfrm>
            <a:off x="8019287" y="2162434"/>
            <a:ext cx="4117848" cy="27084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reasons: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HPPC protocol could not be reconstructed accurately, with several repeating discharge pulses missing from the available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constant-voltage (CV) operating mode is not accurately represented in the current model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 has not been validated across multiple C-rates due to the unavailability of experimental data; consequently, the voltage response is expected to improve once such validation is performed.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85693B-F102-9C8D-926D-976582E9C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344" y="4939032"/>
            <a:ext cx="3925804" cy="153491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332806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65DD-6797-B335-8DD4-4AB9710C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2F4C0-1730-D749-8A10-E96E2458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9</a:t>
            </a:fld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C95BB13-5629-5106-0DDC-409D2FD105A8}"/>
              </a:ext>
            </a:extLst>
          </p:cNvPr>
          <p:cNvSpPr txBox="1">
            <a:spLocks/>
          </p:cNvSpPr>
          <p:nvPr/>
        </p:nvSpPr>
        <p:spPr>
          <a:xfrm>
            <a:off x="185251" y="0"/>
            <a:ext cx="10515600" cy="90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HPPC Protocol Implementation in PyBaMM </a:t>
            </a:r>
            <a:endParaRPr lang="en-IN" sz="4000" dirty="0">
              <a:solidFill>
                <a:srgbClr val="C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361D36-245F-051A-9BD1-BEC9CC689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266640"/>
            <a:ext cx="7799150" cy="3049328"/>
          </a:xfrm>
          <a:prstGeom prst="rect">
            <a:avLst/>
          </a:prstGeom>
          <a:ln>
            <a:solidFill>
              <a:srgbClr val="7030A0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4544E47-F7D9-2723-4E56-E423CBB518D1}"/>
              </a:ext>
            </a:extLst>
          </p:cNvPr>
          <p:cNvGrpSpPr/>
          <p:nvPr/>
        </p:nvGrpSpPr>
        <p:grpSpPr>
          <a:xfrm>
            <a:off x="2075688" y="1421770"/>
            <a:ext cx="4943856" cy="687446"/>
            <a:chOff x="265176" y="2162434"/>
            <a:chExt cx="4943856" cy="68744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04A2803-5BEB-57BB-FA5A-823BE7FA56C0}"/>
                </a:ext>
              </a:extLst>
            </p:cNvPr>
            <p:cNvSpPr/>
            <p:nvPr/>
          </p:nvSpPr>
          <p:spPr>
            <a:xfrm>
              <a:off x="265176" y="2162434"/>
              <a:ext cx="1993392" cy="54419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19CB668-B89E-00D9-2278-C7DE7EAD98C6}"/>
                </a:ext>
              </a:extLst>
            </p:cNvPr>
            <p:cNvSpPr/>
            <p:nvPr/>
          </p:nvSpPr>
          <p:spPr>
            <a:xfrm>
              <a:off x="3215640" y="2305690"/>
              <a:ext cx="1993392" cy="54419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D658F72-F2CA-2521-4920-1DE4C19C094D}"/>
              </a:ext>
            </a:extLst>
          </p:cNvPr>
          <p:cNvSpPr txBox="1"/>
          <p:nvPr/>
        </p:nvSpPr>
        <p:spPr>
          <a:xfrm>
            <a:off x="2639568" y="4940578"/>
            <a:ext cx="5971032" cy="14157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Parametrization (BOL):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Capacity test data (Voltage profile @ lower C-rate)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data Voltage and Temperature @ various C-rates and various ambient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HPPC Voltage Profile can be produced with a good accuracy </a:t>
            </a:r>
          </a:p>
        </p:txBody>
      </p:sp>
    </p:spTree>
    <p:extLst>
      <p:ext uri="{BB962C8B-B14F-4D97-AF65-F5344CB8AC3E}">
        <p14:creationId xmlns:p14="http://schemas.microsoft.com/office/powerpoint/2010/main" val="32131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F880-F17C-6706-DCB5-237B76416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496"/>
            <a:ext cx="10515600" cy="563746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11500" b="1" dirty="0">
                <a:solidFill>
                  <a:srgbClr val="7030A0"/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CCEE5-D74E-B852-02B1-E7875E06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97D4-D799-4192-BF76-CE64AFD1A45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1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577</Words>
  <Application>Microsoft Office PowerPoint</Application>
  <PresentationFormat>Widescreen</PresentationFormat>
  <Paragraphs>60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Theme</vt:lpstr>
      <vt:lpstr>PyBaMM SPM Beginning of Life Model</vt:lpstr>
      <vt:lpstr>Dataset: 95K dataset</vt:lpstr>
      <vt:lpstr>SPM Model development</vt:lpstr>
      <vt:lpstr>SPM Model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 Five</dc:creator>
  <cp:lastModifiedBy>Office User Five</cp:lastModifiedBy>
  <cp:revision>12</cp:revision>
  <dcterms:created xsi:type="dcterms:W3CDTF">2025-12-19T10:29:19Z</dcterms:created>
  <dcterms:modified xsi:type="dcterms:W3CDTF">2025-12-29T10:31:07Z</dcterms:modified>
</cp:coreProperties>
</file>